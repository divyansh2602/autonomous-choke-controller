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8" r:id="rId3"/>
    <p:sldId id="281" r:id="rId4"/>
    <p:sldId id="290" r:id="rId5"/>
    <p:sldId id="293" r:id="rId6"/>
    <p:sldId id="299" r:id="rId7"/>
    <p:sldId id="296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876" y="10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7/24/2026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F277-D966-5891-8E8E-FE1852E6B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63166A99-EAE2-2E28-993F-D5871297B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4ED88F3D-7791-59C8-716F-0AAD4C669A9A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CC82298B-112C-33CB-5F98-D6F1C4A4C6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730513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7/24/2026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7/24/2026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7/24/2026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7CE727-C45C-A6F5-9EE5-AF363B2ADA27}"/>
              </a:ext>
            </a:extLst>
          </p:cNvPr>
          <p:cNvSpPr txBox="1"/>
          <p:nvPr/>
        </p:nvSpPr>
        <p:spPr>
          <a:xfrm>
            <a:off x="602343" y="1714078"/>
            <a:ext cx="10397765" cy="4073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title slide) 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lang="en-US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portal.</a:t>
            </a:r>
            <a:endParaRPr lang="en-US"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lang="en-US"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A033A5-F70E-7E73-0B8C-FA62C08DE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99EC04-BCF1-5A69-7D5A-95D43C976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6" name="Subtitle 3">
            <a:extLst>
              <a:ext uri="{FF2B5EF4-FFF2-40B4-BE49-F238E27FC236}">
                <a16:creationId xmlns:a16="http://schemas.microsoft.com/office/drawing/2014/main" id="{E0A8E5C6-6BFC-01E5-DDF5-B6A7738A64F4}"/>
              </a:ext>
            </a:extLst>
          </p:cNvPr>
          <p:cNvSpPr txBox="1">
            <a:spLocks/>
          </p:cNvSpPr>
          <p:nvPr/>
        </p:nvSpPr>
        <p:spPr bwMode="auto">
          <a:xfrm>
            <a:off x="365760" y="320040"/>
            <a:ext cx="11430000" cy="914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marL="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ＭＳ Ｐゴシック" charset="0"/>
              </a:defRPr>
            </a:lvl1pPr>
            <a:lvl2pPr marL="4572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2pPr>
            <a:lvl3pPr marL="9144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3pPr>
            <a:lvl4pPr marL="13716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4pPr>
            <a:lvl5pPr marL="18288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3000" b="1">
                <a:solidFill>
                  <a:srgbClr val="222A35"/>
                </a:solidFill>
                <a:latin typeface="Cambria"/>
              </a:rPr>
              <a:t>AUTONOMOUS PRODUCTION CHOKE CONTROLLER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B1BDE7-2DA0-F526-CF6E-F50D43C2C5FE}"/>
              </a:ext>
            </a:extLst>
          </p:cNvPr>
          <p:cNvSpPr txBox="1"/>
          <p:nvPr/>
        </p:nvSpPr>
        <p:spPr>
          <a:xfrm>
            <a:off x="640080" y="1828800"/>
            <a:ext cx="10607040" cy="468666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222A35"/>
                </a:solidFill>
                <a:latin typeface="Calibri"/>
              </a:rPr>
              <a:t>Problem Statement ID  -  Honeywell Hackathon, Problem 3A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Calibri"/>
              </a:rPr>
              <a:t>Problem Statement Title  -  Autonomous Production Choke Controller for a Single Naturally Flowing Oil Well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Calibri"/>
              </a:rPr>
              <a:t>Theme  -  Industrial Process Control / Oil &amp; Gas Automation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Calibri"/>
              </a:rPr>
              <a:t>PS Category  -  Software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Calibri"/>
              </a:rPr>
              <a:t>Student Name  -  Divyansh Gupta  (VIT Vellore)</a:t>
            </a:r>
          </a:p>
        </p:txBody>
      </p:sp>
    </p:spTree>
    <p:extLst>
      <p:ext uri="{BB962C8B-B14F-4D97-AF65-F5344CB8AC3E}">
        <p14:creationId xmlns:p14="http://schemas.microsoft.com/office/powerpoint/2010/main" val="3319884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PROCESS UNDERSTANDING &amp; MODEL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1">
                <a:solidFill>
                  <a:srgbClr val="222A35"/>
                </a:solidFill>
                <a:latin typeface="Calibri"/>
              </a:rPr>
              <a:t>Step test: 120 hr open-loop, choke 30-&gt;40-&gt;55-&gt;45-&gt;65 %, Ts = 1 hr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222A35"/>
                </a:solidFill>
                <a:latin typeface="Calibri"/>
              </a:rPr>
              <a:t>Response is first-order (time constant ~5 hr on oil rate), mild noise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222A35"/>
                </a:solidFill>
                <a:latin typeface="Calibri"/>
              </a:rPr>
              <a:t>Opening choke RAISES oil rate but LOWERS WHP / FLP / BHP</a:t>
            </a:r>
          </a:p>
          <a:p>
            <a:pPr lvl="1">
              <a:spcAft>
                <a:spcPts val="6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=&gt; the binding safety constraints are LOWER pressure bounds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222A35"/>
                </a:solidFill>
                <a:latin typeface="Calibri"/>
              </a:rPr>
              <a:t>Model: ARX(1) per output by least squares</a:t>
            </a:r>
          </a:p>
          <a:p>
            <a:pPr lvl="1">
              <a:spcAft>
                <a:spcPts val="600"/>
              </a:spcAft>
            </a:pPr>
            <a:r>
              <a:rPr sz="1350" b="0">
                <a:solidFill>
                  <a:srgbClr val="555F6B"/>
                </a:solidFill>
                <a:latin typeface="Calibri"/>
              </a:rPr>
              <a:t>y[k+1] = a.y[k] + (1-a)(b0 + b1.u[k]);  free-run fit 1.5-2.4 % of span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222A35"/>
                </a:solidFill>
                <a:latin typeface="Calibri"/>
              </a:rPr>
              <a:t>Identified steady-state gains (per % choke):</a:t>
            </a:r>
          </a:p>
          <a:p>
            <a:pPr lvl="1">
              <a:spcAft>
                <a:spcPts val="600"/>
              </a:spcAft>
            </a:pPr>
            <a:r>
              <a:rPr sz="1350" b="0">
                <a:solidFill>
                  <a:srgbClr val="555F6B"/>
                </a:solidFill>
                <a:latin typeface="Calibri"/>
              </a:rPr>
              <a:t>Q +1.82 bbl/hr   WHP -1.59   FLP -0.99   BHP -8.38 psi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5363" name="Picture 15362" descr="model_vali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1965960"/>
            <a:ext cx="603504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CONTROL STRATEGY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1">
                <a:solidFill>
                  <a:srgbClr val="222A35"/>
                </a:solidFill>
                <a:latin typeface="Calibri"/>
              </a:rPr>
              <a:t>Simplified MPC by brute-force candidate search (per brief)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222A35"/>
                </a:solidFill>
                <a:latin typeface="Calibri"/>
              </a:rPr>
              <a:t>Each hour, enumerate choke +/- up to 5 % (ramp-feasible, fine grid)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222A35"/>
                </a:solidFill>
                <a:latin typeface="Calibri"/>
              </a:rPr>
              <a:t>Predict each candidate's pressures over a settling horizon + steady state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REJECT any move predicted to breach WHP/FLP/BHP + safety margin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222A35"/>
                </a:solidFill>
                <a:latin typeface="Calibri"/>
              </a:rPr>
              <a:t>Among safe moves, minimise (Q_ss - target)^2 + lambda.(delta choke)^2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222A35"/>
                </a:solidFill>
                <a:latin typeface="Calibri"/>
              </a:rPr>
              <a:t>Infeasible target =&gt; same cost settles at the highest safe rate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2E7D32"/>
                </a:solidFill>
                <a:latin typeface="Calibri"/>
              </a:rPr>
              <a:t>Monotonic first-order response: steady-state feasibility proves the</a:t>
            </a:r>
          </a:p>
          <a:p>
            <a:pPr lvl="1">
              <a:spcAft>
                <a:spcPts val="600"/>
              </a:spcAft>
            </a:pPr>
            <a:r>
              <a:rPr sz="1350" b="1">
                <a:solidFill>
                  <a:srgbClr val="2E7D32"/>
                </a:solidFill>
                <a:latin typeface="Calibri"/>
              </a:rPr>
              <a:t>whole trajectory safe -&gt; safe-by-construction, 0 violations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4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7411" name="Picture 17410" descr="deck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371079"/>
            <a:ext cx="6035040" cy="293880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RESULTS  -  TARGET TRACKING (A &amp; B)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48640" y="1234440"/>
            <a:ext cx="11155680" cy="19202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22A35"/>
                </a:solidFill>
                <a:latin typeface="Calibri"/>
              </a:rPr>
              <a:t>Scenario A - Startup -&gt; 130 bbl/hr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555F6B"/>
                </a:solidFill>
                <a:latin typeface="Calibri"/>
              </a:rPr>
              <a:t>settles 129.9 bbl/hr, steady-state error -0.11, 0 violations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22A35"/>
                </a:solidFill>
                <a:latin typeface="Calibri"/>
              </a:rPr>
              <a:t>Scenario B - Target step 100 -&gt; 150 bbl/hr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555F6B"/>
                </a:solidFill>
                <a:latin typeface="Calibri"/>
              </a:rPr>
              <a:t>settles 149.7 bbl/hr, steady-state error -0.34, 0 violations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2A35"/>
                </a:solidFill>
                <a:latin typeface="Calibri"/>
              </a:rPr>
              <a:t>Pressures stay inside the envelope throughout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2A35"/>
                </a:solidFill>
                <a:latin typeface="Calibri"/>
              </a:rPr>
              <a:t>Choke moves are smooth and respect the +/-5 %/step ramp limit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7411" name="Picture 17410" descr="deck_trac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" y="3200400"/>
            <a:ext cx="6583680" cy="3291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09052-50AE-B3C2-6A1C-5CFF37D94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>
            <a:extLst>
              <a:ext uri="{FF2B5EF4-FFF2-40B4-BE49-F238E27FC236}">
                <a16:creationId xmlns:a16="http://schemas.microsoft.com/office/drawing/2014/main" id="{5E03BF1A-7989-5C44-934B-D93E14918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SAFETY PERFORMANCE &amp; LESSONS LEARNED</a:t>
            </a:r>
          </a:p>
        </p:txBody>
      </p:sp>
      <p:sp>
        <p:nvSpPr>
          <p:cNvPr id="17410" name="TextBox 8">
            <a:extLst>
              <a:ext uri="{FF2B5EF4-FFF2-40B4-BE49-F238E27FC236}">
                <a16:creationId xmlns:a16="http://schemas.microsoft.com/office/drawing/2014/main" id="{DD0C6F84-D6ED-416D-7179-055149D83F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2533653"/>
            <a:ext cx="9385300" cy="22467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222A35"/>
                </a:solidFill>
                <a:latin typeface="Calibri"/>
              </a:rPr>
              <a:t>Scenario C - infeasible 185 bbl/hr: controller REFUSES,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F6B"/>
                </a:solidFill>
                <a:latin typeface="Calibri"/>
              </a:rPr>
              <a:t>settles at max safe 154.9 bbl/hr with 0 violations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E4066"/>
                </a:solidFill>
                <a:latin typeface="Calibri"/>
              </a:rPr>
              <a:t>Lessons learned: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222A35"/>
                </a:solidFill>
                <a:latin typeface="Calibri"/>
              </a:rPr>
              <a:t>Binding constraint is a lower pressure bound, not an upper rate cap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222A35"/>
                </a:solidFill>
                <a:latin typeface="Calibri"/>
              </a:rPr>
              <a:t>Monotonicity makes a cheap brute-force MPC provably safe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222A35"/>
                </a:solidFill>
                <a:latin typeface="Calibri"/>
              </a:rPr>
              <a:t>Safety margin trades ~4 bbl/hr for zero measured violations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B14AAA-63FC-5F17-FE74-5405495A1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4C6332B-BBD9-799D-50C5-6A19BC85E4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7411" name="TextBox 17410"/>
          <p:cNvSpPr txBox="1"/>
          <p:nvPr/>
        </p:nvSpPr>
        <p:spPr>
          <a:xfrm>
            <a:off x="640080" y="4160520"/>
            <a:ext cx="237744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6600" b="1" i="0">
                <a:solidFill>
                  <a:srgbClr val="2E7D32"/>
                </a:solidFill>
                <a:latin typeface="Calibri"/>
              </a:rPr>
              <a:t>0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640080" y="5394960"/>
            <a:ext cx="237744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200" b="0" i="0">
                <a:solidFill>
                  <a:srgbClr val="555F6B"/>
                </a:solidFill>
                <a:latin typeface="Calibri"/>
              </a:rPr>
              <a:t>MPC violations (A/B/C)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3200400" y="4160520"/>
            <a:ext cx="237744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6600" b="1" i="0">
                <a:solidFill>
                  <a:srgbClr val="C0392B"/>
                </a:solidFill>
                <a:latin typeface="Calibri"/>
              </a:rPr>
              <a:t>168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063240" y="5394960"/>
            <a:ext cx="265176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200" b="0" i="0">
                <a:solidFill>
                  <a:srgbClr val="555F6B"/>
                </a:solidFill>
                <a:latin typeface="Calibri"/>
              </a:rPr>
              <a:t>naive-baseline breaches on C</a:t>
            </a:r>
          </a:p>
        </p:txBody>
      </p:sp>
      <p:pic>
        <p:nvPicPr>
          <p:cNvPr id="17415" name="Picture 17414" descr="baseline_comparison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4880" y="1417320"/>
            <a:ext cx="5689600" cy="512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447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ARTIFACTS &amp;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48640" y="1280160"/>
            <a:ext cx="5852160" cy="52120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222A35"/>
                </a:solidFill>
                <a:latin typeface="Calibri"/>
              </a:rPr>
              <a:t>Code (flat Python modules at repo root):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F6B"/>
                </a:solidFill>
                <a:latin typeface="Calibri"/>
              </a:rPr>
              <a:t>dataio, model_id, envelope, simulator, controller, plotting, scenarios, main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22A35"/>
                </a:solidFill>
                <a:latin typeface="Calibri"/>
              </a:rPr>
              <a:t>Executed Jupyter notebook + technical report.md + results/ (plots, metrics.json)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2E7D32"/>
                </a:solidFill>
                <a:latin typeface="Calibri"/>
              </a:rPr>
              <a:t>Run:  pip install -r requirements.txt  &amp;&amp;  python main.py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F6B"/>
                </a:solidFill>
                <a:latin typeface="Calibri"/>
              </a:rPr>
              <a:t>main.py asserts 0 envelope violations across A/B/C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22A35"/>
                </a:solidFill>
                <a:latin typeface="Calibri"/>
              </a:rPr>
              <a:t>Simulator stand-in shares the official .step(choke)-&gt;(Q,WHP,FLP,BHP)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F6B"/>
                </a:solidFill>
                <a:latin typeface="Calibri"/>
              </a:rPr>
              <a:t>signature -&gt; the real event simulator drops in with a one-line change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E4066"/>
                </a:solidFill>
                <a:latin typeface="Calibri"/>
              </a:rPr>
              <a:t>Repo: github.com/Divyansh2602/autonomous-choke-controller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22A35"/>
                </a:solidFill>
                <a:latin typeface="Calibri"/>
              </a:rPr>
              <a:t>References: least-squares system identification (Ljung); simplified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F6B"/>
                </a:solidFill>
                <a:latin typeface="Calibri"/>
              </a:rPr>
              <a:t>MPC by brute-force candidate evaluation (Honeywell brief)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7411" name="Picture 17410" descr="scenario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2156" y="1234440"/>
            <a:ext cx="4655127" cy="5120640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720840" y="6355080"/>
            <a:ext cx="493776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50" b="0" i="1">
                <a:solidFill>
                  <a:srgbClr val="555F6B"/>
                </a:solidFill>
                <a:latin typeface="Calibri"/>
              </a:rPr>
              <a:t>Required 6-trend plot (Scenario C shown)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7668</TotalTime>
  <Words>320</Words>
  <Application>Microsoft Office PowerPoint</Application>
  <PresentationFormat>Widescreen</PresentationFormat>
  <Paragraphs>60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ＭＳ Ｐゴシック</vt:lpstr>
      <vt:lpstr>Arial</vt:lpstr>
      <vt:lpstr>Calibri</vt:lpstr>
      <vt:lpstr>Times New Roman</vt:lpstr>
      <vt:lpstr>TradeGothic</vt:lpstr>
      <vt:lpstr>Office Theme</vt:lpstr>
      <vt:lpstr>PowerPoint Presentation</vt:lpstr>
      <vt:lpstr>PowerPoint Presentation</vt:lpstr>
      <vt:lpstr> IDEA TITLE</vt:lpstr>
      <vt:lpstr>TECHNICAL APPROACH</vt:lpstr>
      <vt:lpstr>FEASIBILITY AND VIABILITY</vt:lpstr>
      <vt:lpstr>ARTIFACTS</vt:lpstr>
      <vt:lpstr>RESEARCH  AND REFERENCES</vt:lpstr>
    </vt:vector>
  </TitlesOfParts>
  <Manager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Idea Template</dc:title>
  <dc:subject/>
  <cp:keywords/>
  <dc:description/>
  <cp:lastModifiedBy>Ramesh MV (HirePro)</cp:lastModifiedBy>
  <cp:revision>153</cp:revision>
  <dcterms:created xsi:type="dcterms:W3CDTF">2013-12-12T18:46:50Z</dcterms:created>
  <dcterms:modified xsi:type="dcterms:W3CDTF">2026-07-24T16:33:04Z</dcterms:modified>
  <cp:category/>
</cp:coreProperties>
</file>