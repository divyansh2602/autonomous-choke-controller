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7CE727-C45C-A6F5-9EE5-AF363B2ADA27}"/>
              </a:ext>
            </a:extLst>
          </p:cNvPr>
          <p:cNvSpPr txBox="1"/>
          <p:nvPr/>
        </p:nvSpPr>
        <p:spPr>
          <a:xfrm>
            <a:off x="602343" y="1714078"/>
            <a:ext cx="10397765" cy="4073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title slide)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lang="en-US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portal.</a:t>
            </a:r>
            <a:endParaRPr lang="en-US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lang="en-US"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Honeywell Hackathon  |  Problem 3A - Autonomous Production Choke Controller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Subtitle 3">
            <a:extLst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 txBox="1">
            <a:spLocks/>
          </p:cNvSpPr>
          <p:nvPr/>
        </p:nvSpPr>
        <p:spPr bwMode="auto">
          <a:xfrm>
            <a:off x="365760" y="320040"/>
            <a:ext cx="1143000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marL="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ＭＳ Ｐゴシック" charset="0"/>
              </a:defRPr>
            </a:lvl1pPr>
            <a:lvl2pPr marL="4572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2pPr>
            <a:lvl3pPr marL="9144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3pPr>
            <a:lvl4pPr marL="13716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4pPr>
            <a:lvl5pPr marL="1828800" indent="0" algn="ctr" defTabSz="457200" rtl="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ＭＳ Ｐゴシック" charset="0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sz="3000" b="1">
                <a:solidFill>
                  <a:srgbClr val="222A35"/>
                </a:solidFill>
                <a:latin typeface="Cambria"/>
              </a:rPr>
              <a:t>AUTONOMOUS PRODUCTION CHOKE CONTROLLER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 txBox="1"/>
          <p:nvPr/>
        </p:nvSpPr>
        <p:spPr>
          <a:xfrm>
            <a:off x="640080" y="1828800"/>
            <a:ext cx="10607040" cy="468666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22A35"/>
                </a:solidFill>
                <a:latin typeface="Calibri"/>
              </a:rPr>
              <a:t>Problem Statement ID  -  Honeywell Hackathon, Problem 3A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Calibri"/>
              </a:rPr>
              <a:t>Problem Statement Title  -  Autonomous Production Choke Controller for a Single Naturally Flowing Oil Well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Calibri"/>
              </a:rPr>
              <a:t>Theme  -  Industrial Process Control / Oil &amp; Gas Automation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Calibri"/>
              </a:rPr>
              <a:t>PS Category  -  Software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222A35"/>
                </a:solidFill>
                <a:latin typeface="Calibri"/>
              </a:rPr>
              <a:t>Student Name  -  Divyansh Gupta  (VIT Vellore)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PROCESS UNDERSTANDING &amp; MODEL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222A35"/>
                </a:solidFill>
                <a:latin typeface="Calibri"/>
              </a:rPr>
              <a:t>Step test: 120 hr open-loop, choke 30-&gt;40-&gt;55-&gt;45-&gt;65 %, Ts = 1 hr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Response is first-order (time constant ~5 hr on oil rate), mild noise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Opening choke RAISES oil rate but LOWERS WHP / FLP / BHP</a:t>
            </a:r>
          </a:p>
          <a:p>
            <a:pPr lvl="1">
              <a:spcAft>
                <a:spcPts val="6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=&gt; the binding safety constraints are LOWER pressure bounds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A35"/>
                </a:solidFill>
                <a:latin typeface="Calibri"/>
              </a:rPr>
              <a:t>Model: ARX(1) per output by least squares</a:t>
            </a:r>
          </a:p>
          <a:p>
            <a:pPr lvl="1">
              <a:spcAft>
                <a:spcPts val="600"/>
              </a:spcAft>
            </a:pPr>
            <a:r>
              <a:rPr sz="1350" b="0">
                <a:solidFill>
                  <a:srgbClr val="555F6B"/>
                </a:solidFill>
                <a:latin typeface="Calibri"/>
              </a:rPr>
              <a:t>y[k+1] = a.y[k] + (1-a)(b0 + b1.u[k]);  free-run fit 1.5-2.4 % of span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A35"/>
                </a:solidFill>
                <a:latin typeface="Calibri"/>
              </a:rPr>
              <a:t>Identified steady-state gains (per % choke):</a:t>
            </a:r>
          </a:p>
          <a:p>
            <a:pPr lvl="1">
              <a:spcAft>
                <a:spcPts val="600"/>
              </a:spcAft>
            </a:pPr>
            <a:r>
              <a:rPr sz="1350" b="0">
                <a:solidFill>
                  <a:srgbClr val="555F6B"/>
                </a:solidFill>
                <a:latin typeface="Calibri"/>
              </a:rPr>
              <a:t>Q +1.82 bbl/hr   WHP -1.59   FLP -0.99   BHP -8.38 psi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Honeywell Hackathon  |  Problem 3A - Autonomous Production Choke Controller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5363" name="Picture 15362" descr="model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965960"/>
            <a:ext cx="603504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CONTROL STRATEGY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222A35"/>
                </a:solidFill>
                <a:latin typeface="Calibri"/>
              </a:rPr>
              <a:t>Simplified MPC by brute-force candidate search (per brief)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Each hour, enumerate choke +/- up to 5 % (ramp-feasible, fine grid)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Predict each candidate's pressures over a settling horizon + steady state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C0392B"/>
                </a:solidFill>
                <a:latin typeface="Calibri"/>
              </a:rPr>
              <a:t>REJECT any move predicted to breach WHP/FLP/BHP + safety margin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Among safe moves, minimise (Q_ss - target)^2 + lambda.(delta choke)^2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222A35"/>
                </a:solidFill>
                <a:latin typeface="Calibri"/>
              </a:rPr>
              <a:t>Infeasible target =&gt; same cost settles at the highest safe rate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E7D32"/>
                </a:solidFill>
                <a:latin typeface="Calibri"/>
              </a:rPr>
              <a:t>Monotonic first-order response: steady-state feasibility proves the</a:t>
            </a:r>
          </a:p>
          <a:p>
            <a:pPr lvl="1">
              <a:spcAft>
                <a:spcPts val="600"/>
              </a:spcAft>
            </a:pPr>
            <a:r>
              <a:rPr sz="1350" b="1">
                <a:solidFill>
                  <a:srgbClr val="2E7D32"/>
                </a:solidFill>
                <a:latin typeface="Calibri"/>
              </a:rPr>
              <a:t>whole trajectory safe -&gt; safe-by-construction, 0 violations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Honeywell Hackathon  |  Problem 3A - Autonomous Production Choke Controller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7411" name="Picture 17410" descr="deck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371079"/>
            <a:ext cx="6035040" cy="29388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RESULTS  -  TARGET TRACKING (A &amp; B)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34440"/>
            <a:ext cx="11155680" cy="1920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22A35"/>
                </a:solidFill>
                <a:latin typeface="Calibri"/>
              </a:rPr>
              <a:t>Scenario A - Startup -&gt; 130 bbl/hr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settles 129.9 bbl/hr, steady-state error -0.11, 0 violations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22A35"/>
                </a:solidFill>
                <a:latin typeface="Calibri"/>
              </a:rPr>
              <a:t>Scenario B - Target step 100 -&gt; 150 bbl/hr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555F6B"/>
                </a:solidFill>
                <a:latin typeface="Calibri"/>
              </a:rPr>
              <a:t>settles 149.7 bbl/hr, steady-state error -0.34, 0 violations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A35"/>
                </a:solidFill>
                <a:latin typeface="Calibri"/>
              </a:rPr>
              <a:t>Pressures stay inside the envelope throughout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22A35"/>
                </a:solidFill>
                <a:latin typeface="Calibri"/>
              </a:rPr>
              <a:t>Choke moves are smooth and respect the +/-5 %/step ramp limit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Honeywell Hackathon  |  Problem 3A - Autonomous Production Choke Controller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deck_trac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3200400"/>
            <a:ext cx="6583680" cy="3291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SAFETY PERFORMANCE &amp; LESSONS LEARNED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2533653"/>
            <a:ext cx="9385300" cy="22467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222A35"/>
                </a:solidFill>
                <a:latin typeface="Calibri"/>
              </a:rPr>
              <a:t>Scenario C - infeasible 185 bbl/hr: controller REFUSES,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555F6B"/>
                </a:solidFill>
                <a:latin typeface="Calibri"/>
              </a:rPr>
              <a:t>settles at max safe 154.9 bbl/hr with 0 violations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E7D32"/>
                </a:solidFill>
                <a:latin typeface="Calibri"/>
              </a:rPr>
              <a:t>Robust: 0 violations under +/-20% plant mismatch, unmeasured</a:t>
            </a:r>
          </a:p>
          <a:p>
            <a:pPr lvl="1">
              <a:spcAft>
                <a:spcPts val="400"/>
              </a:spcAft>
            </a:pPr>
            <a:r>
              <a:rPr sz="1250" b="1">
                <a:solidFill>
                  <a:srgbClr val="2E7D32"/>
                </a:solidFill>
                <a:latin typeface="Calibri"/>
              </a:rPr>
              <a:t>disturbances and 2x noise (22-case stress study, robustness.py)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1E4066"/>
                </a:solidFill>
                <a:latin typeface="Calibri"/>
              </a:rPr>
              <a:t>Lessons learned: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A35"/>
                </a:solidFill>
                <a:latin typeface="Calibri"/>
              </a:rPr>
              <a:t>Binding constraint is a lower pressure bound, not an upper rate cap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A35"/>
                </a:solidFill>
                <a:latin typeface="Calibri"/>
              </a:rPr>
              <a:t>Monotonicity makes a cheap brute-force MPC provably safe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A35"/>
                </a:solidFill>
                <a:latin typeface="Calibri"/>
              </a:rPr>
              <a:t>Model error costs production, never safety - margin is the dial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Honeywell Hackathon  |  Problem 3A - Autonomous Production Choke Controller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7411" name="TextBox 17410"/>
          <p:cNvSpPr txBox="1"/>
          <p:nvPr/>
        </p:nvSpPr>
        <p:spPr>
          <a:xfrm>
            <a:off x="640080" y="4160520"/>
            <a:ext cx="237744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6600" b="1" i="0">
                <a:solidFill>
                  <a:srgbClr val="2E7D32"/>
                </a:solidFill>
                <a:latin typeface="Calibri"/>
              </a:rPr>
              <a:t>0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40080" y="5394960"/>
            <a:ext cx="23774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 i="0">
                <a:solidFill>
                  <a:srgbClr val="555F6B"/>
                </a:solidFill>
                <a:latin typeface="Calibri"/>
              </a:rPr>
              <a:t>MPC violations (A/B/C)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200400" y="4160520"/>
            <a:ext cx="237744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6600" b="1" i="0">
                <a:solidFill>
                  <a:srgbClr val="C0392B"/>
                </a:solidFill>
                <a:latin typeface="Calibri"/>
              </a:rPr>
              <a:t>168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063240" y="5394960"/>
            <a:ext cx="265176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200" b="0" i="0">
                <a:solidFill>
                  <a:srgbClr val="555F6B"/>
                </a:solidFill>
                <a:latin typeface="Calibri"/>
              </a:rPr>
              <a:t>naive-baseline breaches on C</a:t>
            </a:r>
          </a:p>
        </p:txBody>
      </p:sp>
      <p:pic>
        <p:nvPicPr>
          <p:cNvPr id="17415" name="Picture 17414" descr="baseline_comparison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880" y="1417320"/>
            <a:ext cx="5689600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ARTIFACTS &amp;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548640" y="1280160"/>
            <a:ext cx="5852160" cy="5212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22A35"/>
                </a:solidFill>
                <a:latin typeface="Calibri"/>
              </a:rPr>
              <a:t>Code (flat Python modules at repo root):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dataio, model_id, envelope, simulator, controller, plotting, scenarios, main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Executed Jupyter notebook + technical report.md + results/ (plots, metrics.json)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E7D32"/>
                </a:solidFill>
                <a:latin typeface="Calibri"/>
              </a:rPr>
              <a:t>Live dashboard:  streamlit run app.py  (scenario presets, per-step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MPC diagnostics: candidates rejected as unsafe, WHP margin)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E7D32"/>
                </a:solidFill>
                <a:latin typeface="Calibri"/>
              </a:rPr>
              <a:t>Robustness:  python robustness.py  (22 stress cases: noise, +/-20%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mismatch, unmeasured disturbances)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E7D32"/>
                </a:solidFill>
                <a:latin typeface="Calibri"/>
              </a:rPr>
              <a:t>Run:  pip install -r requirements.txt  &amp;&amp;  python main.py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main.py asserts 0 envelope violations across A/B/C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Simulator stand-in shares the official .step(choke)-&gt;(Q,WHP,FLP,BHP)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signature -&gt; the real event simulator drops in with a one-line change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1E4066"/>
                </a:solidFill>
                <a:latin typeface="Calibri"/>
              </a:rPr>
              <a:t>Repo: github.com/Divyansh2602/autonomous-choke-controller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222A35"/>
                </a:solidFill>
                <a:latin typeface="Calibri"/>
              </a:rPr>
              <a:t>References: least-squares system identification (Ljung); simplified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555F6B"/>
                </a:solidFill>
                <a:latin typeface="Calibri"/>
              </a:rPr>
              <a:t>MPC by brute-force candidate evaluation (Honeywell brief)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Honeywell Hackathon  |  Problem 3A - Autonomous Production Choke Controller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7411" name="Picture 17410" descr="scenario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156" y="1234440"/>
            <a:ext cx="4655127" cy="5120640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720840" y="6355080"/>
            <a:ext cx="493776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50" b="0" i="1">
                <a:solidFill>
                  <a:srgbClr val="555F6B"/>
                </a:solidFill>
                <a:latin typeface="Calibri"/>
              </a:rPr>
              <a:t>Required 6-trend plot (Scenario C shown)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